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257" r:id="rId4"/>
    <p:sldId id="256" r:id="rId5"/>
    <p:sldId id="260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660"/>
  </p:normalViewPr>
  <p:slideViewPr>
    <p:cSldViewPr snapToGrid="0">
      <p:cViewPr>
        <p:scale>
          <a:sx n="66" d="100"/>
          <a:sy n="66" d="100"/>
        </p:scale>
        <p:origin x="1020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18DE2-B9ED-4668-83D8-3C0194D1B7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67111-A920-4DF4-B986-6C5EE2A7D8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96EC7-BB05-43C7-886A-765976A44D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逻辑为并行的以下四项任务：</a:t>
            </a:r>
            <a:endParaRPr lang="zh-CN" altLang="en-US"/>
          </a:p>
          <a:p>
            <a:r>
              <a:rPr lang="en-US" altLang="en-US"/>
              <a:t></a:t>
            </a:r>
            <a:r>
              <a:rPr lang="zh-CN" altLang="en-US"/>
              <a:t>查库功能需要否？</a:t>
            </a:r>
            <a:endParaRPr lang="zh-CN" altLang="en-US"/>
          </a:p>
          <a:p>
            <a:r>
              <a:rPr lang="en-US" altLang="en-US"/>
              <a:t></a:t>
            </a:r>
            <a:r>
              <a:rPr lang="zh-CN" altLang="en-US"/>
              <a:t>绘图功能需要否？</a:t>
            </a:r>
            <a:endParaRPr lang="zh-CN" altLang="en-US"/>
          </a:p>
          <a:p>
            <a:r>
              <a:rPr lang="en-US" altLang="en-US"/>
              <a:t></a:t>
            </a:r>
            <a:r>
              <a:rPr lang="zh-CN" altLang="en-US"/>
              <a:t>深度检索功能需要否？</a:t>
            </a:r>
            <a:endParaRPr lang="zh-CN" altLang="en-US"/>
          </a:p>
          <a:p>
            <a:r>
              <a:rPr lang="en-US" altLang="en-US"/>
              <a:t></a:t>
            </a:r>
            <a:r>
              <a:rPr lang="zh-CN" altLang="en-US"/>
              <a:t>是否是问答？</a:t>
            </a:r>
            <a:r>
              <a:rPr lang="en-US" altLang="zh-CN"/>
              <a:t>——</a:t>
            </a:r>
            <a:r>
              <a:rPr lang="zh-CN" altLang="en-US"/>
              <a:t>若是的话则生成初步规划</a:t>
            </a:r>
            <a:endParaRPr lang="zh-CN" altLang="en-US"/>
          </a:p>
          <a:p>
            <a:r>
              <a:rPr lang="en-US" altLang="en-US"/>
              <a:t></a:t>
            </a:r>
            <a:r>
              <a:rPr lang="zh-CN" altLang="en-US"/>
              <a:t>还有新增？</a:t>
            </a:r>
            <a:r>
              <a:rPr lang="en-US" altLang="zh-CN"/>
              <a:t>AI</a:t>
            </a:r>
            <a:r>
              <a:rPr lang="zh-CN" altLang="en-US"/>
              <a:t>小模型预测之类的查库里？</a:t>
            </a:r>
            <a:r>
              <a:rPr lang="en-US" altLang="zh-CN"/>
              <a:t>-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1DD0F-2103-4C62-8E88-9669497A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7577E-F12F-4C64-B437-ADA3141927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526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64655" y="785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运维助手项目介绍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3143" y="1157292"/>
            <a:ext cx="10265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本项目的目标是构建一个集智能问答、故障诊断、决策支持和知识自学习于一体的综合型运维助手。</a:t>
            </a:r>
            <a:r>
              <a:rPr lang="zh-CN" altLang="en-US" dirty="0"/>
              <a:t>该助手将基于领域知识，通过智能诊断与预测性维护，有效降低运维门槛并沉淀专家经验，实现从被动告警向主动管理的转型，全面提升电站的安全、效率与经济效益。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526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64655" y="785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运维助手项目介绍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90600" y="1363453"/>
            <a:ext cx="881742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）概念性知识是指事物本质、定义、分类及其内在逻辑关系的静态结构化表征，通常表述为“是什么”、“为什么”</a:t>
            </a:r>
            <a:endParaRPr lang="en-US" altLang="zh-CN" b="1" dirty="0"/>
          </a:p>
          <a:p>
            <a:r>
              <a:rPr lang="zh-CN" altLang="en-US" sz="1600" dirty="0"/>
              <a:t>对应可以回答的问题有“介质强度实验按照哪些步骤进行？”、“耐湿热实验有哪些步骤</a:t>
            </a:r>
            <a:r>
              <a:rPr lang="en-US" altLang="zh-CN" sz="1600" dirty="0"/>
              <a:t>?”</a:t>
            </a:r>
            <a:r>
              <a:rPr lang="zh-CN" altLang="en-US" sz="1600" dirty="0"/>
              <a:t>等简单问答；</a:t>
            </a:r>
            <a:endParaRPr lang="en-US" altLang="zh-CN" sz="160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）而程序性知识则表征任务执行的时序步骤、因果逻辑链及状态转移规则，用于构建推理的动态路径，通常表述为“怎么做”</a:t>
            </a:r>
            <a:endParaRPr lang="en-US" altLang="zh-CN" b="1" dirty="0"/>
          </a:p>
          <a:p>
            <a:r>
              <a:rPr lang="zh-CN" altLang="en-US" sz="1600" dirty="0"/>
              <a:t>对应可以回答的问题为“在磷酸铁锂</a:t>
            </a:r>
            <a:r>
              <a:rPr lang="en-US" altLang="zh-CN" sz="1600" dirty="0"/>
              <a:t>-</a:t>
            </a:r>
            <a:r>
              <a:rPr lang="zh-CN" altLang="en-US" sz="1600" dirty="0"/>
              <a:t>石墨电池包中，电池串联，某电芯放电全程偏低，充电</a:t>
            </a:r>
            <a:r>
              <a:rPr lang="en-US" altLang="zh-CN" sz="1600" dirty="0"/>
              <a:t>&lt;80%SOC</a:t>
            </a:r>
            <a:r>
              <a:rPr lang="zh-CN" altLang="en-US" sz="1600" dirty="0"/>
              <a:t>偏高，</a:t>
            </a:r>
            <a:r>
              <a:rPr lang="en-US" altLang="zh-CN" sz="1600" dirty="0"/>
              <a:t>&gt;80%SOC</a:t>
            </a:r>
            <a:r>
              <a:rPr lang="zh-CN" altLang="en-US" sz="1600" dirty="0"/>
              <a:t>正常。且该电芯的内阻偏大。该电池是什么故障？”等复杂问题。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526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64655" y="785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运维助手框架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1218835" y="11216586"/>
            <a:ext cx="1335148" cy="618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根据用户意图生成请求</a:t>
            </a:r>
            <a:r>
              <a:rPr lang="en-US" altLang="zh-CN" sz="1200" dirty="0"/>
              <a:t>/</a:t>
            </a:r>
            <a:r>
              <a:rPr lang="zh-CN" altLang="en-US" sz="1200" dirty="0"/>
              <a:t>语句</a:t>
            </a:r>
            <a:endParaRPr lang="zh-CN" altLang="en-US" sz="1200" dirty="0"/>
          </a:p>
          <a:p>
            <a:pPr algn="ctr"/>
            <a:r>
              <a:rPr lang="zh-CN" altLang="en-US" sz="1200" dirty="0"/>
              <a:t>数据查询</a:t>
            </a:r>
            <a:endParaRPr lang="en-US" altLang="zh-CN" sz="1200" dirty="0"/>
          </a:p>
        </p:txBody>
      </p:sp>
      <p:cxnSp>
        <p:nvCxnSpPr>
          <p:cNvPr id="81" name="直接箭头连接符 80"/>
          <p:cNvCxnSpPr>
            <a:stCxn id="78" idx="3"/>
            <a:endCxn id="92" idx="1"/>
          </p:cNvCxnSpPr>
          <p:nvPr/>
        </p:nvCxnSpPr>
        <p:spPr>
          <a:xfrm>
            <a:off x="2553983" y="11526066"/>
            <a:ext cx="370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矩形: 圆角 91"/>
          <p:cNvSpPr/>
          <p:nvPr/>
        </p:nvSpPr>
        <p:spPr>
          <a:xfrm>
            <a:off x="2924511" y="11216586"/>
            <a:ext cx="1335148" cy="618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数据抓取</a:t>
            </a:r>
            <a:endParaRPr lang="zh-CN" altLang="en-US" sz="1600" dirty="0"/>
          </a:p>
        </p:txBody>
      </p:sp>
      <p:cxnSp>
        <p:nvCxnSpPr>
          <p:cNvPr id="99" name="连接符: 肘形 98"/>
          <p:cNvCxnSpPr>
            <a:endCxn id="78" idx="1"/>
          </p:cNvCxnSpPr>
          <p:nvPr/>
        </p:nvCxnSpPr>
        <p:spPr>
          <a:xfrm>
            <a:off x="579421" y="10493216"/>
            <a:ext cx="639414" cy="10328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矩形: 圆角 101"/>
          <p:cNvSpPr/>
          <p:nvPr/>
        </p:nvSpPr>
        <p:spPr>
          <a:xfrm>
            <a:off x="4691336" y="11216586"/>
            <a:ext cx="1335148" cy="618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进行绘图</a:t>
            </a:r>
            <a:endParaRPr lang="zh-CN" altLang="en-US" sz="1600" dirty="0"/>
          </a:p>
        </p:txBody>
      </p:sp>
      <p:cxnSp>
        <p:nvCxnSpPr>
          <p:cNvPr id="104" name="直接箭头连接符 103"/>
          <p:cNvCxnSpPr>
            <a:stCxn id="92" idx="3"/>
            <a:endCxn id="102" idx="1"/>
          </p:cNvCxnSpPr>
          <p:nvPr/>
        </p:nvCxnSpPr>
        <p:spPr>
          <a:xfrm>
            <a:off x="4259659" y="11526066"/>
            <a:ext cx="4316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矩形: 圆角 81"/>
          <p:cNvSpPr/>
          <p:nvPr/>
        </p:nvSpPr>
        <p:spPr>
          <a:xfrm>
            <a:off x="6399650" y="11216586"/>
            <a:ext cx="1126836" cy="618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生成答案</a:t>
            </a:r>
            <a:endParaRPr lang="zh-CN" altLang="en-US" sz="1600" dirty="0"/>
          </a:p>
        </p:txBody>
      </p:sp>
      <p:cxnSp>
        <p:nvCxnSpPr>
          <p:cNvPr id="83" name="直接箭头连接符 82"/>
          <p:cNvCxnSpPr>
            <a:stCxn id="102" idx="3"/>
            <a:endCxn id="82" idx="1"/>
          </p:cNvCxnSpPr>
          <p:nvPr/>
        </p:nvCxnSpPr>
        <p:spPr>
          <a:xfrm>
            <a:off x="6026484" y="11526066"/>
            <a:ext cx="373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117847" y="11089764"/>
            <a:ext cx="9739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需进行作图</a:t>
            </a:r>
            <a:endParaRPr lang="zh-CN" altLang="en-US" sz="1050" dirty="0"/>
          </a:p>
        </p:txBody>
      </p:sp>
      <p:sp>
        <p:nvSpPr>
          <p:cNvPr id="93" name="矩形: 圆角 92"/>
          <p:cNvSpPr/>
          <p:nvPr/>
        </p:nvSpPr>
        <p:spPr>
          <a:xfrm>
            <a:off x="2505210" y="10183736"/>
            <a:ext cx="1126836" cy="618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生成答案</a:t>
            </a:r>
            <a:endParaRPr lang="zh-CN" altLang="en-US" sz="1600" dirty="0"/>
          </a:p>
        </p:txBody>
      </p:sp>
      <p:cxnSp>
        <p:nvCxnSpPr>
          <p:cNvPr id="94" name="直接箭头连接符 93"/>
          <p:cNvCxnSpPr>
            <a:endCxn id="93" idx="1"/>
          </p:cNvCxnSpPr>
          <p:nvPr/>
        </p:nvCxnSpPr>
        <p:spPr>
          <a:xfrm>
            <a:off x="579421" y="10493216"/>
            <a:ext cx="1925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矩形: 圆角 96"/>
          <p:cNvSpPr/>
          <p:nvPr/>
        </p:nvSpPr>
        <p:spPr>
          <a:xfrm>
            <a:off x="1218835" y="9301313"/>
            <a:ext cx="1167121" cy="45733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电池状态查询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3678841" y="9220502"/>
            <a:ext cx="1126836" cy="618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生成答案</a:t>
            </a:r>
            <a:endParaRPr lang="zh-CN" altLang="en-US" sz="1600" dirty="0"/>
          </a:p>
        </p:txBody>
      </p:sp>
      <p:cxnSp>
        <p:nvCxnSpPr>
          <p:cNvPr id="100" name="连接符: 肘形 99"/>
          <p:cNvCxnSpPr>
            <a:endCxn id="97" idx="1"/>
          </p:cNvCxnSpPr>
          <p:nvPr/>
        </p:nvCxnSpPr>
        <p:spPr>
          <a:xfrm flipV="1">
            <a:off x="579421" y="9529982"/>
            <a:ext cx="639414" cy="9632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97" idx="3"/>
            <a:endCxn id="98" idx="1"/>
          </p:cNvCxnSpPr>
          <p:nvPr/>
        </p:nvCxnSpPr>
        <p:spPr>
          <a:xfrm>
            <a:off x="2385956" y="9529982"/>
            <a:ext cx="1292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117847" y="9587189"/>
            <a:ext cx="12884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查询类问题</a:t>
            </a:r>
            <a:endParaRPr lang="zh-CN" altLang="en-US" sz="1050" dirty="0"/>
          </a:p>
        </p:txBody>
      </p:sp>
      <p:sp>
        <p:nvSpPr>
          <p:cNvPr id="118" name="文本框 117"/>
          <p:cNvSpPr txBox="1"/>
          <p:nvPr/>
        </p:nvSpPr>
        <p:spPr>
          <a:xfrm>
            <a:off x="6189524" y="9962391"/>
            <a:ext cx="662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tool</a:t>
            </a:r>
            <a:endParaRPr lang="zh-CN" altLang="en-US" sz="1050" dirty="0"/>
          </a:p>
        </p:txBody>
      </p:sp>
      <p:sp>
        <p:nvSpPr>
          <p:cNvPr id="137" name="文本框 136"/>
          <p:cNvSpPr txBox="1"/>
          <p:nvPr/>
        </p:nvSpPr>
        <p:spPr>
          <a:xfrm>
            <a:off x="1394574" y="10363918"/>
            <a:ext cx="12884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普通问题</a:t>
            </a:r>
            <a:endParaRPr lang="zh-CN" altLang="en-US" sz="1050" dirty="0"/>
          </a:p>
        </p:txBody>
      </p:sp>
      <p:sp>
        <p:nvSpPr>
          <p:cNvPr id="143" name="文本框 142"/>
          <p:cNvSpPr txBox="1"/>
          <p:nvPr/>
        </p:nvSpPr>
        <p:spPr>
          <a:xfrm>
            <a:off x="1392663" y="7631313"/>
            <a:ext cx="4792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这里的</a:t>
            </a:r>
            <a:r>
              <a:rPr lang="en-US" altLang="zh-CN" sz="1800" dirty="0"/>
              <a:t>supervisor</a:t>
            </a:r>
            <a:r>
              <a:rPr lang="zh-CN" altLang="en-US" sz="1800" dirty="0"/>
              <a:t>根据</a:t>
            </a:r>
            <a:r>
              <a:rPr lang="en-US" altLang="zh-CN" sz="1800" dirty="0"/>
              <a:t>cot</a:t>
            </a:r>
            <a:r>
              <a:rPr lang="zh-CN" altLang="en-US" dirty="0"/>
              <a:t>和</a:t>
            </a:r>
            <a:r>
              <a:rPr lang="en-US" altLang="zh-CN" dirty="0"/>
              <a:t>query</a:t>
            </a:r>
            <a:r>
              <a:rPr lang="zh-CN" altLang="en-US" dirty="0"/>
              <a:t>执行对于工具的调用，整合出工具调用所需要的格式</a:t>
            </a:r>
            <a:endParaRPr lang="zh-CN" altLang="en-US" sz="1800" dirty="0"/>
          </a:p>
        </p:txBody>
      </p:sp>
      <p:grpSp>
        <p:nvGrpSpPr>
          <p:cNvPr id="2" name="组合 1"/>
          <p:cNvGrpSpPr/>
          <p:nvPr/>
        </p:nvGrpSpPr>
        <p:grpSpPr>
          <a:xfrm>
            <a:off x="-1657395" y="542569"/>
            <a:ext cx="13840159" cy="6798926"/>
            <a:chOff x="-1657395" y="542569"/>
            <a:chExt cx="13840159" cy="6798926"/>
          </a:xfrm>
        </p:grpSpPr>
        <p:sp>
          <p:nvSpPr>
            <p:cNvPr id="7" name="矩形: 圆角 6"/>
            <p:cNvSpPr/>
            <p:nvPr/>
          </p:nvSpPr>
          <p:spPr>
            <a:xfrm>
              <a:off x="-1170379" y="2255356"/>
              <a:ext cx="966519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classify</a:t>
              </a:r>
              <a:endParaRPr lang="zh-CN" altLang="en-US" dirty="0"/>
            </a:p>
          </p:txBody>
        </p:sp>
        <p:cxnSp>
          <p:nvCxnSpPr>
            <p:cNvPr id="10" name="连接符: 肘形 9"/>
            <p:cNvCxnSpPr>
              <a:stCxn id="7" idx="3"/>
              <a:endCxn id="116" idx="1"/>
            </p:cNvCxnSpPr>
            <p:nvPr/>
          </p:nvCxnSpPr>
          <p:spPr>
            <a:xfrm>
              <a:off x="-203860" y="2564836"/>
              <a:ext cx="3941596" cy="4433099"/>
            </a:xfrm>
            <a:prstGeom prst="bentConnector3">
              <a:avLst>
                <a:gd name="adj1" fmla="val 3163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-254534" y="2926698"/>
              <a:ext cx="11730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非复杂问题</a:t>
              </a:r>
              <a:endParaRPr lang="zh-CN" altLang="en-US" sz="140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-226538" y="1824642"/>
              <a:ext cx="11730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复杂问题</a:t>
              </a:r>
              <a:endParaRPr lang="zh-CN" altLang="en-US" sz="1400" dirty="0"/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2300516" y="1280240"/>
              <a:ext cx="1173017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检索程序性知识库</a:t>
              </a:r>
              <a:endParaRPr lang="zh-CN" altLang="en-US" sz="1600" dirty="0"/>
            </a:p>
          </p:txBody>
        </p:sp>
        <p:cxnSp>
          <p:nvCxnSpPr>
            <p:cNvPr id="15" name="连接符: 肘形 14"/>
            <p:cNvCxnSpPr>
              <a:stCxn id="7" idx="3"/>
              <a:endCxn id="14" idx="1"/>
            </p:cNvCxnSpPr>
            <p:nvPr/>
          </p:nvCxnSpPr>
          <p:spPr>
            <a:xfrm flipV="1">
              <a:off x="-203860" y="1589720"/>
              <a:ext cx="2504376" cy="97511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: 圆角 15"/>
            <p:cNvSpPr/>
            <p:nvPr/>
          </p:nvSpPr>
          <p:spPr>
            <a:xfrm>
              <a:off x="3990605" y="1280240"/>
              <a:ext cx="1288471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生成研究大纲</a:t>
              </a:r>
              <a:endParaRPr lang="zh-CN" altLang="en-US" sz="1600" dirty="0"/>
            </a:p>
          </p:txBody>
        </p:sp>
        <p:cxnSp>
          <p:nvCxnSpPr>
            <p:cNvPr id="17" name="直接箭头连接符 16"/>
            <p:cNvCxnSpPr>
              <a:stCxn id="14" idx="3"/>
              <a:endCxn id="16" idx="1"/>
            </p:cNvCxnSpPr>
            <p:nvPr/>
          </p:nvCxnSpPr>
          <p:spPr>
            <a:xfrm>
              <a:off x="3473533" y="1589720"/>
              <a:ext cx="5170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: 圆角 17"/>
            <p:cNvSpPr/>
            <p:nvPr/>
          </p:nvSpPr>
          <p:spPr>
            <a:xfrm>
              <a:off x="6435933" y="2390361"/>
              <a:ext cx="1005936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是否</a:t>
              </a:r>
              <a:r>
                <a:rPr lang="en-US" altLang="zh-CN" sz="1600" dirty="0"/>
                <a:t>search</a:t>
              </a:r>
              <a:endParaRPr lang="zh-CN" altLang="en-US" sz="16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5947228" y="1969322"/>
              <a:ext cx="4365171" cy="2272145"/>
            </a:xfrm>
            <a:prstGeom prst="rect">
              <a:avLst/>
            </a:prstGeom>
            <a:noFill/>
            <a:ln cmpd="dbl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7645523" y="2390360"/>
              <a:ext cx="968580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执行</a:t>
              </a:r>
              <a:r>
                <a:rPr lang="en-US" altLang="zh-CN" sz="1600" dirty="0"/>
                <a:t>search</a:t>
              </a:r>
              <a:endParaRPr lang="zh-CN" altLang="en-US" sz="1600" dirty="0"/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7441869" y="3437510"/>
              <a:ext cx="1288471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判断本</a:t>
              </a:r>
              <a:r>
                <a:rPr lang="en-US" altLang="zh-CN" sz="1600" dirty="0" err="1"/>
                <a:t>iter</a:t>
              </a:r>
              <a:r>
                <a:rPr lang="zh-CN" altLang="en-US" sz="1600" dirty="0"/>
                <a:t>是否结束</a:t>
              </a:r>
              <a:endParaRPr lang="zh-CN" altLang="en-US" sz="1600" dirty="0"/>
            </a:p>
          </p:txBody>
        </p:sp>
        <p:cxnSp>
          <p:nvCxnSpPr>
            <p:cNvPr id="22" name="连接符: 肘形 21"/>
            <p:cNvCxnSpPr>
              <a:stCxn id="49" idx="3"/>
              <a:endCxn id="21" idx="3"/>
            </p:cNvCxnSpPr>
            <p:nvPr/>
          </p:nvCxnSpPr>
          <p:spPr>
            <a:xfrm flipH="1">
              <a:off x="8730340" y="2705795"/>
              <a:ext cx="1019254" cy="1041195"/>
            </a:xfrm>
            <a:prstGeom prst="bentConnector3">
              <a:avLst>
                <a:gd name="adj1" fmla="val -2242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18" idx="3"/>
              <a:endCxn id="20" idx="1"/>
            </p:cNvCxnSpPr>
            <p:nvPr/>
          </p:nvCxnSpPr>
          <p:spPr>
            <a:xfrm flipV="1">
              <a:off x="7441869" y="2699840"/>
              <a:ext cx="20365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连接符: 肘形 23"/>
            <p:cNvCxnSpPr>
              <a:stCxn id="21" idx="1"/>
              <a:endCxn id="18" idx="1"/>
            </p:cNvCxnSpPr>
            <p:nvPr/>
          </p:nvCxnSpPr>
          <p:spPr>
            <a:xfrm rot="10800000">
              <a:off x="6435933" y="2699842"/>
              <a:ext cx="1005936" cy="1047149"/>
            </a:xfrm>
            <a:prstGeom prst="bentConnector3">
              <a:avLst>
                <a:gd name="adj1" fmla="val 12272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矩形: 圆角 24"/>
            <p:cNvSpPr/>
            <p:nvPr/>
          </p:nvSpPr>
          <p:spPr>
            <a:xfrm>
              <a:off x="7404512" y="1280240"/>
              <a:ext cx="1288471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Supervisor</a:t>
              </a:r>
              <a:r>
                <a:rPr lang="zh-CN" altLang="en-US" sz="1600" dirty="0"/>
                <a:t>决策</a:t>
              </a:r>
              <a:endParaRPr lang="zh-CN" altLang="en-US" sz="1600" dirty="0"/>
            </a:p>
          </p:txBody>
        </p:sp>
        <p:cxnSp>
          <p:nvCxnSpPr>
            <p:cNvPr id="26" name="连接符: 肘形 25"/>
            <p:cNvCxnSpPr>
              <a:stCxn id="21" idx="1"/>
              <a:endCxn id="25" idx="1"/>
            </p:cNvCxnSpPr>
            <p:nvPr/>
          </p:nvCxnSpPr>
          <p:spPr>
            <a:xfrm rot="10800000">
              <a:off x="7404513" y="1589720"/>
              <a:ext cx="37357" cy="2157270"/>
            </a:xfrm>
            <a:prstGeom prst="bentConnector3">
              <a:avLst>
                <a:gd name="adj1" fmla="val 4878909"/>
              </a:avLst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5714422" y="1608895"/>
              <a:ext cx="11730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结束</a:t>
              </a:r>
              <a:endParaRPr lang="zh-CN" altLang="en-US" sz="1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184858" y="3114620"/>
              <a:ext cx="11730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继续</a:t>
              </a:r>
              <a:endParaRPr lang="zh-CN" altLang="en-US" sz="1400" dirty="0"/>
            </a:p>
          </p:txBody>
        </p:sp>
        <p:cxnSp>
          <p:nvCxnSpPr>
            <p:cNvPr id="29" name="直接箭头连接符 28"/>
            <p:cNvCxnSpPr>
              <a:stCxn id="16" idx="3"/>
              <a:endCxn id="25" idx="1"/>
            </p:cNvCxnSpPr>
            <p:nvPr/>
          </p:nvCxnSpPr>
          <p:spPr>
            <a:xfrm>
              <a:off x="5279076" y="1589720"/>
              <a:ext cx="212543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连接符: 肘形 29"/>
            <p:cNvCxnSpPr>
              <a:stCxn id="25" idx="3"/>
              <a:endCxn id="21" idx="3"/>
            </p:cNvCxnSpPr>
            <p:nvPr/>
          </p:nvCxnSpPr>
          <p:spPr>
            <a:xfrm>
              <a:off x="8692983" y="1589720"/>
              <a:ext cx="37357" cy="2157270"/>
            </a:xfrm>
            <a:prstGeom prst="bentConnector3">
              <a:avLst>
                <a:gd name="adj1" fmla="val 4995465"/>
              </a:avLst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6790705" y="542569"/>
              <a:ext cx="24487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/>
                <a:t>Supervisor</a:t>
              </a:r>
              <a:r>
                <a:rPr lang="zh-CN" altLang="en-US" sz="1600" dirty="0"/>
                <a:t>总结当前信息，决策是否需要再进行研究</a:t>
              </a:r>
              <a:endParaRPr lang="zh-CN" altLang="en-US" sz="1600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961333" y="3840340"/>
              <a:ext cx="15746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继续下一轮研究</a:t>
              </a:r>
              <a:endParaRPr lang="zh-CN" altLang="en-US" sz="1400" dirty="0"/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11220037" y="1280240"/>
              <a:ext cx="962727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生成最终答案</a:t>
              </a:r>
              <a:endParaRPr lang="zh-CN" altLang="en-US" sz="1600" dirty="0"/>
            </a:p>
          </p:txBody>
        </p:sp>
        <p:cxnSp>
          <p:nvCxnSpPr>
            <p:cNvPr id="34" name="直接箭头连接符 33"/>
            <p:cNvCxnSpPr>
              <a:stCxn id="25" idx="3"/>
              <a:endCxn id="33" idx="1"/>
            </p:cNvCxnSpPr>
            <p:nvPr/>
          </p:nvCxnSpPr>
          <p:spPr>
            <a:xfrm>
              <a:off x="8692983" y="1589720"/>
              <a:ext cx="2527054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: 圆角 48"/>
            <p:cNvSpPr/>
            <p:nvPr/>
          </p:nvSpPr>
          <p:spPr>
            <a:xfrm>
              <a:off x="8781014" y="2396315"/>
              <a:ext cx="968580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Chunk</a:t>
              </a:r>
              <a:r>
                <a:rPr lang="zh-CN" altLang="en-US" sz="1600" dirty="0"/>
                <a:t>去噪</a:t>
              </a:r>
              <a:endParaRPr lang="zh-CN" altLang="en-US" sz="1600" dirty="0"/>
            </a:p>
          </p:txBody>
        </p:sp>
        <p:cxnSp>
          <p:nvCxnSpPr>
            <p:cNvPr id="54" name="直接箭头连接符 53"/>
            <p:cNvCxnSpPr>
              <a:stCxn id="20" idx="3"/>
              <a:endCxn id="49" idx="1"/>
            </p:cNvCxnSpPr>
            <p:nvPr/>
          </p:nvCxnSpPr>
          <p:spPr>
            <a:xfrm>
              <a:off x="8614103" y="2699840"/>
              <a:ext cx="166911" cy="5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连接符: 肘形 71"/>
            <p:cNvCxnSpPr>
              <a:stCxn id="18" idx="2"/>
              <a:endCxn id="21" idx="3"/>
            </p:cNvCxnSpPr>
            <p:nvPr/>
          </p:nvCxnSpPr>
          <p:spPr>
            <a:xfrm rot="16200000" flipH="1">
              <a:off x="7465785" y="2482435"/>
              <a:ext cx="737670" cy="1791439"/>
            </a:xfrm>
            <a:prstGeom prst="bentConnector4">
              <a:avLst>
                <a:gd name="adj1" fmla="val 29023"/>
                <a:gd name="adj2" fmla="val 112761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/>
          </p:nvSpPr>
          <p:spPr>
            <a:xfrm>
              <a:off x="7376185" y="3008552"/>
              <a:ext cx="27834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/>
                <a:t>否</a:t>
              </a:r>
              <a:endParaRPr lang="zh-CN" altLang="en-US" sz="1050" dirty="0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7381575" y="2437878"/>
              <a:ext cx="27834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/>
                <a:t>是</a:t>
              </a:r>
              <a:endParaRPr lang="zh-CN" altLang="en-US" sz="1050" dirty="0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4358492" y="6145171"/>
              <a:ext cx="128847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/>
                <a:t>需要</a:t>
              </a:r>
              <a:r>
                <a:rPr lang="en-US" altLang="zh-CN" sz="1050" dirty="0"/>
                <a:t>tools</a:t>
              </a:r>
              <a:endParaRPr lang="zh-CN" altLang="en-US" sz="1050" dirty="0"/>
            </a:p>
          </p:txBody>
        </p:sp>
        <p:sp>
          <p:nvSpPr>
            <p:cNvPr id="116" name="矩形: 圆角 115"/>
            <p:cNvSpPr/>
            <p:nvPr/>
          </p:nvSpPr>
          <p:spPr>
            <a:xfrm>
              <a:off x="3737736" y="6688455"/>
              <a:ext cx="1288471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Supervisor</a:t>
              </a:r>
              <a:endParaRPr lang="zh-CN" altLang="en-US" sz="1600" dirty="0"/>
            </a:p>
          </p:txBody>
        </p:sp>
        <p:sp>
          <p:nvSpPr>
            <p:cNvPr id="119" name="矩形: 圆角 118"/>
            <p:cNvSpPr/>
            <p:nvPr/>
          </p:nvSpPr>
          <p:spPr>
            <a:xfrm>
              <a:off x="6816271" y="5377555"/>
              <a:ext cx="1167121" cy="45733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电池状态查询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0" name="矩形: 圆角 119"/>
            <p:cNvSpPr/>
            <p:nvPr/>
          </p:nvSpPr>
          <p:spPr>
            <a:xfrm>
              <a:off x="5512439" y="5392075"/>
              <a:ext cx="1167121" cy="43808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数据抓取及绘图</a:t>
              </a:r>
              <a:endParaRPr lang="zh-CN" altLang="en-US" sz="1200" dirty="0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5356431" y="5152518"/>
              <a:ext cx="2906590" cy="1535937"/>
            </a:xfrm>
            <a:prstGeom prst="rect">
              <a:avLst/>
            </a:prstGeom>
            <a:noFill/>
            <a:ln cmpd="dbl">
              <a:solidFill>
                <a:schemeClr val="accent1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123" name="矩形: 圆角 122"/>
            <p:cNvSpPr/>
            <p:nvPr/>
          </p:nvSpPr>
          <p:spPr>
            <a:xfrm>
              <a:off x="8772733" y="6668344"/>
              <a:ext cx="1126836" cy="61895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生成答案</a:t>
              </a:r>
              <a:endParaRPr lang="zh-CN" altLang="en-US" sz="1600" dirty="0"/>
            </a:p>
          </p:txBody>
        </p:sp>
        <p:cxnSp>
          <p:nvCxnSpPr>
            <p:cNvPr id="128" name="直接箭头连接符 127"/>
            <p:cNvCxnSpPr>
              <a:stCxn id="116" idx="3"/>
              <a:endCxn id="123" idx="1"/>
            </p:cNvCxnSpPr>
            <p:nvPr/>
          </p:nvCxnSpPr>
          <p:spPr>
            <a:xfrm flipV="1">
              <a:off x="5026207" y="6977824"/>
              <a:ext cx="3746526" cy="201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连接符: 肘形 130"/>
            <p:cNvCxnSpPr>
              <a:stCxn id="116" idx="3"/>
              <a:endCxn id="121" idx="1"/>
            </p:cNvCxnSpPr>
            <p:nvPr/>
          </p:nvCxnSpPr>
          <p:spPr>
            <a:xfrm flipV="1">
              <a:off x="5026207" y="5920487"/>
              <a:ext cx="330224" cy="107744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连接符: 肘形 133"/>
            <p:cNvCxnSpPr>
              <a:stCxn id="121" idx="3"/>
              <a:endCxn id="123" idx="1"/>
            </p:cNvCxnSpPr>
            <p:nvPr/>
          </p:nvCxnSpPr>
          <p:spPr>
            <a:xfrm>
              <a:off x="8263021" y="5920487"/>
              <a:ext cx="509712" cy="105733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文本框 137"/>
            <p:cNvSpPr txBox="1"/>
            <p:nvPr/>
          </p:nvSpPr>
          <p:spPr>
            <a:xfrm>
              <a:off x="6434139" y="7087579"/>
              <a:ext cx="128847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/>
                <a:t>不需</a:t>
              </a:r>
              <a:r>
                <a:rPr lang="en-US" altLang="zh-CN" sz="1050" dirty="0"/>
                <a:t>tools</a:t>
              </a:r>
              <a:endParaRPr lang="zh-CN" altLang="en-US" sz="1050" dirty="0"/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-1657395" y="3505578"/>
              <a:ext cx="2448791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对于非复杂问题，</a:t>
              </a:r>
              <a:r>
                <a:rPr lang="en-US" altLang="zh-CN" sz="1600" dirty="0"/>
                <a:t>classify</a:t>
              </a:r>
              <a:r>
                <a:rPr lang="zh-CN" altLang="en-US" sz="1600" dirty="0"/>
                <a:t>模块会产生一个</a:t>
              </a:r>
              <a:r>
                <a:rPr lang="en-US" altLang="zh-CN" sz="1600" dirty="0"/>
                <a:t>cot</a:t>
              </a:r>
              <a:r>
                <a:rPr lang="zh-CN" altLang="en-US" sz="1600" dirty="0"/>
                <a:t>，思考每一步应该做什么，应该需要调用什么工具</a:t>
              </a:r>
              <a:endParaRPr lang="zh-CN" altLang="en-US" sz="1600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1646285" y="2295383"/>
              <a:ext cx="24487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/>
                <a:t>multi agent</a:t>
              </a:r>
              <a:endParaRPr lang="zh-CN" altLang="en-US" b="1" dirty="0"/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1646284" y="6383874"/>
              <a:ext cx="24487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/>
                <a:t>single agent</a:t>
              </a:r>
              <a:endParaRPr lang="zh-CN" altLang="en-US" b="1" dirty="0"/>
            </a:p>
          </p:txBody>
        </p:sp>
        <p:sp>
          <p:nvSpPr>
            <p:cNvPr id="150" name="矩形: 圆角 149"/>
            <p:cNvSpPr/>
            <p:nvPr/>
          </p:nvSpPr>
          <p:spPr>
            <a:xfrm>
              <a:off x="6095999" y="6022507"/>
              <a:ext cx="1288470" cy="408834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检索概念性知识库</a:t>
              </a:r>
              <a:endParaRPr lang="zh-CN" altLang="en-US" sz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0" y="-1625600"/>
            <a:ext cx="19526250" cy="8063230"/>
            <a:chOff x="0" y="-2560"/>
            <a:chExt cx="30750" cy="12698"/>
          </a:xfrm>
        </p:grpSpPr>
        <p:sp>
          <p:nvSpPr>
            <p:cNvPr id="23" name="矩形: 圆角 22"/>
            <p:cNvSpPr/>
            <p:nvPr/>
          </p:nvSpPr>
          <p:spPr>
            <a:xfrm>
              <a:off x="3309" y="5468"/>
              <a:ext cx="2005" cy="97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意图识别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977" y="5470"/>
              <a:ext cx="2761" cy="97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复杂：深度检索类问题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0" name="直接箭头连接符 29"/>
            <p:cNvCxnSpPr>
              <a:endCxn id="5" idx="1"/>
            </p:cNvCxnSpPr>
            <p:nvPr/>
          </p:nvCxnSpPr>
          <p:spPr>
            <a:xfrm>
              <a:off x="8762" y="5958"/>
              <a:ext cx="8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8" name="组合 97"/>
            <p:cNvGrpSpPr/>
            <p:nvPr/>
          </p:nvGrpSpPr>
          <p:grpSpPr>
            <a:xfrm>
              <a:off x="12430" y="5068"/>
              <a:ext cx="13447" cy="5070"/>
              <a:chOff x="4506191" y="3867881"/>
              <a:chExt cx="8538845" cy="3219430"/>
            </a:xfrm>
          </p:grpSpPr>
          <p:sp>
            <p:nvSpPr>
              <p:cNvPr id="29" name="矩形: 圆角 28"/>
              <p:cNvSpPr/>
              <p:nvPr/>
            </p:nvSpPr>
            <p:spPr>
              <a:xfrm>
                <a:off x="4506191" y="4123311"/>
                <a:ext cx="1288471" cy="61895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生成研究大纲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6802592" y="5236205"/>
                <a:ext cx="1005936" cy="61895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search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6313887" y="4815166"/>
                <a:ext cx="4365171" cy="2272145"/>
              </a:xfrm>
              <a:prstGeom prst="rect">
                <a:avLst/>
              </a:prstGeom>
              <a:noFill/>
              <a:ln cmpd="dbl">
                <a:solidFill>
                  <a:schemeClr val="accent2">
                    <a:lumMod val="7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>
                <a:off x="8012182" y="5236204"/>
                <a:ext cx="968580" cy="61895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执行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search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7808528" y="6283354"/>
                <a:ext cx="1288471" cy="61895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判断本</a:t>
                </a:r>
                <a:r>
                  <a:rPr lang="en-US" altLang="zh-CN" sz="1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iter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是否结束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5" name="连接符: 肘形 34"/>
              <p:cNvCxnSpPr>
                <a:stCxn id="48" idx="3"/>
                <a:endCxn id="34" idx="3"/>
              </p:cNvCxnSpPr>
              <p:nvPr/>
            </p:nvCxnSpPr>
            <p:spPr>
              <a:xfrm flipH="1">
                <a:off x="9096999" y="5551639"/>
                <a:ext cx="1019254" cy="1041195"/>
              </a:xfrm>
              <a:prstGeom prst="bentConnector3">
                <a:avLst>
                  <a:gd name="adj1" fmla="val -22428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31" idx="3"/>
                <a:endCxn id="33" idx="1"/>
              </p:cNvCxnSpPr>
              <p:nvPr/>
            </p:nvCxnSpPr>
            <p:spPr>
              <a:xfrm flipV="1">
                <a:off x="7808528" y="5545684"/>
                <a:ext cx="203654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/>
              <p:cNvCxnSpPr>
                <a:stCxn id="34" idx="1"/>
                <a:endCxn id="31" idx="1"/>
              </p:cNvCxnSpPr>
              <p:nvPr/>
            </p:nvCxnSpPr>
            <p:spPr>
              <a:xfrm rot="10800000">
                <a:off x="6802592" y="5545686"/>
                <a:ext cx="1005936" cy="1047149"/>
              </a:xfrm>
              <a:prstGeom prst="bentConnector3">
                <a:avLst>
                  <a:gd name="adj1" fmla="val 12272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矩形: 圆角 37"/>
              <p:cNvSpPr/>
              <p:nvPr/>
            </p:nvSpPr>
            <p:spPr>
              <a:xfrm>
                <a:off x="7771171" y="4126084"/>
                <a:ext cx="1288471" cy="61895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Supervisor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决策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9" name="连接符: 肘形 38"/>
              <p:cNvCxnSpPr>
                <a:stCxn id="34" idx="1"/>
                <a:endCxn id="38" idx="1"/>
              </p:cNvCxnSpPr>
              <p:nvPr/>
            </p:nvCxnSpPr>
            <p:spPr>
              <a:xfrm rot="10800000">
                <a:off x="7771172" y="4435564"/>
                <a:ext cx="37357" cy="2157270"/>
              </a:xfrm>
              <a:prstGeom prst="bentConnector3">
                <a:avLst>
                  <a:gd name="adj1" fmla="val 4878909"/>
                </a:avLst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文本框 39"/>
              <p:cNvSpPr txBox="1"/>
              <p:nvPr/>
            </p:nvSpPr>
            <p:spPr>
              <a:xfrm>
                <a:off x="6081081" y="4454739"/>
                <a:ext cx="11730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结束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6551517" y="5960464"/>
                <a:ext cx="11730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继续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2" name="直接箭头连接符 41"/>
              <p:cNvCxnSpPr>
                <a:stCxn id="29" idx="3"/>
                <a:endCxn id="38" idx="1"/>
              </p:cNvCxnSpPr>
              <p:nvPr/>
            </p:nvCxnSpPr>
            <p:spPr>
              <a:xfrm>
                <a:off x="5794662" y="4432791"/>
                <a:ext cx="1976509" cy="2773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连接符: 肘形 42"/>
              <p:cNvCxnSpPr>
                <a:stCxn id="38" idx="3"/>
                <a:endCxn id="34" idx="3"/>
              </p:cNvCxnSpPr>
              <p:nvPr/>
            </p:nvCxnSpPr>
            <p:spPr>
              <a:xfrm>
                <a:off x="9059642" y="4435564"/>
                <a:ext cx="37357" cy="2157270"/>
              </a:xfrm>
              <a:prstGeom prst="bentConnector3">
                <a:avLst>
                  <a:gd name="adj1" fmla="val 4995465"/>
                </a:avLst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文本框 43"/>
              <p:cNvSpPr txBox="1"/>
              <p:nvPr/>
            </p:nvSpPr>
            <p:spPr>
              <a:xfrm>
                <a:off x="9024518" y="3867881"/>
                <a:ext cx="24487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Supervisor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总结当前信息，决策是否需要再进行研究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327992" y="6686184"/>
                <a:ext cx="15746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继续下一轮研究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矩形: 圆角 45"/>
              <p:cNvSpPr/>
              <p:nvPr/>
            </p:nvSpPr>
            <p:spPr>
              <a:xfrm>
                <a:off x="11548976" y="4005676"/>
                <a:ext cx="1496060" cy="80962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生成报告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7" name="直接箭头连接符 46"/>
              <p:cNvCxnSpPr>
                <a:stCxn id="38" idx="3"/>
                <a:endCxn id="46" idx="1"/>
              </p:cNvCxnSpPr>
              <p:nvPr/>
            </p:nvCxnSpPr>
            <p:spPr>
              <a:xfrm flipV="1">
                <a:off x="9059642" y="4410799"/>
                <a:ext cx="2489200" cy="25400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矩形: 圆角 47"/>
              <p:cNvSpPr/>
              <p:nvPr/>
            </p:nvSpPr>
            <p:spPr>
              <a:xfrm>
                <a:off x="9147673" y="5242159"/>
                <a:ext cx="968580" cy="61895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Chunk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去噪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9" name="直接箭头连接符 48"/>
              <p:cNvCxnSpPr>
                <a:stCxn id="33" idx="3"/>
                <a:endCxn id="48" idx="1"/>
              </p:cNvCxnSpPr>
              <p:nvPr/>
            </p:nvCxnSpPr>
            <p:spPr>
              <a:xfrm>
                <a:off x="8980762" y="5545684"/>
                <a:ext cx="166911" cy="59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连接符: 肘形 49"/>
              <p:cNvCxnSpPr>
                <a:stCxn id="31" idx="2"/>
                <a:endCxn id="34" idx="3"/>
              </p:cNvCxnSpPr>
              <p:nvPr/>
            </p:nvCxnSpPr>
            <p:spPr>
              <a:xfrm rot="16200000" flipH="1">
                <a:off x="7832444" y="5328279"/>
                <a:ext cx="737670" cy="1791439"/>
              </a:xfrm>
              <a:prstGeom prst="bentConnector4">
                <a:avLst>
                  <a:gd name="adj1" fmla="val 29023"/>
                  <a:gd name="adj2" fmla="val 112761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文本框 50"/>
              <p:cNvSpPr txBox="1"/>
              <p:nvPr/>
            </p:nvSpPr>
            <p:spPr>
              <a:xfrm>
                <a:off x="7742844" y="5854396"/>
                <a:ext cx="2783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否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7748234" y="5283722"/>
                <a:ext cx="2783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2" name="矩形: 圆角 111"/>
            <p:cNvSpPr/>
            <p:nvPr/>
          </p:nvSpPr>
          <p:spPr>
            <a:xfrm>
              <a:off x="23521" y="-1338"/>
              <a:ext cx="2356" cy="128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生成答案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矩形: 圆角 112"/>
            <p:cNvSpPr/>
            <p:nvPr/>
          </p:nvSpPr>
          <p:spPr>
            <a:xfrm>
              <a:off x="28510" y="6397"/>
              <a:ext cx="2240" cy="83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更新记录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右大括号 113"/>
            <p:cNvSpPr/>
            <p:nvPr/>
          </p:nvSpPr>
          <p:spPr>
            <a:xfrm>
              <a:off x="27226" y="-1147"/>
              <a:ext cx="792" cy="10019"/>
            </a:xfrm>
            <a:prstGeom prst="rightBrace">
              <a:avLst>
                <a:gd name="adj1" fmla="val 0"/>
                <a:gd name="adj2" fmla="val 50304"/>
              </a:avLst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28"/>
            <p:cNvSpPr/>
            <p:nvPr/>
          </p:nvSpPr>
          <p:spPr>
            <a:xfrm>
              <a:off x="9648" y="5470"/>
              <a:ext cx="2029" cy="97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预检索程序性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知识库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>
              <a:off x="11677" y="5958"/>
              <a:ext cx="7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矩形: 圆角 26"/>
            <p:cNvSpPr/>
            <p:nvPr/>
          </p:nvSpPr>
          <p:spPr>
            <a:xfrm>
              <a:off x="3137" y="0"/>
              <a:ext cx="2349" cy="97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FAST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: 圆角 26"/>
            <p:cNvSpPr/>
            <p:nvPr/>
          </p:nvSpPr>
          <p:spPr>
            <a:xfrm>
              <a:off x="0" y="5385"/>
              <a:ext cx="2350" cy="97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Deep Resaerch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2423" y="5841"/>
              <a:ext cx="8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5144" y="5875"/>
              <a:ext cx="8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23" idx="0"/>
              <a:endCxn id="10" idx="2"/>
            </p:cNvCxnSpPr>
            <p:nvPr/>
          </p:nvCxnSpPr>
          <p:spPr>
            <a:xfrm flipV="1">
              <a:off x="4312" y="975"/>
              <a:ext cx="0" cy="44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10025" y="-2560"/>
              <a:ext cx="13098" cy="5512"/>
              <a:chOff x="5759" y="-2865"/>
              <a:chExt cx="13098" cy="551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759" y="-2865"/>
                <a:ext cx="13098" cy="5513"/>
                <a:chOff x="-476" y="-1430"/>
                <a:chExt cx="13098" cy="5513"/>
              </a:xfrm>
            </p:grpSpPr>
            <p:grpSp>
              <p:nvGrpSpPr>
                <p:cNvPr id="2" name="组合 1"/>
                <p:cNvGrpSpPr/>
                <p:nvPr/>
              </p:nvGrpSpPr>
              <p:grpSpPr>
                <a:xfrm>
                  <a:off x="761" y="-1430"/>
                  <a:ext cx="11861" cy="5513"/>
                  <a:chOff x="285" y="-630"/>
                  <a:chExt cx="11861" cy="5513"/>
                </a:xfrm>
              </p:grpSpPr>
              <p:sp>
                <p:nvSpPr>
                  <p:cNvPr id="3" name="矩形: 圆角 2"/>
                  <p:cNvSpPr/>
                  <p:nvPr/>
                </p:nvSpPr>
                <p:spPr>
                  <a:xfrm>
                    <a:off x="5417" y="3779"/>
                    <a:ext cx="3435" cy="975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根据用户意图生成请求</a:t>
                    </a:r>
                    <a:r>
                      <a: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/</a:t>
                    </a: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语句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/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数据查询</a:t>
                    </a:r>
                    <a:endParaRPr lang="en-US" altLang="zh-CN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4" name="直接箭头连接符 3"/>
                  <p:cNvCxnSpPr>
                    <a:stCxn id="3" idx="3"/>
                    <a:endCxn id="7" idx="1"/>
                  </p:cNvCxnSpPr>
                  <p:nvPr/>
                </p:nvCxnSpPr>
                <p:spPr>
                  <a:xfrm flipV="1">
                    <a:off x="8852" y="4263"/>
                    <a:ext cx="1011" cy="4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" name="矩形: 圆角 6"/>
                  <p:cNvSpPr/>
                  <p:nvPr/>
                </p:nvSpPr>
                <p:spPr>
                  <a:xfrm>
                    <a:off x="9863" y="3775"/>
                    <a:ext cx="2283" cy="975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调用</a:t>
                    </a:r>
                    <a:r>
                      <a: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MCP</a:t>
                    </a: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工具进行绘图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" name="矩形: 圆角 13"/>
                  <p:cNvSpPr/>
                  <p:nvPr/>
                </p:nvSpPr>
                <p:spPr>
                  <a:xfrm>
                    <a:off x="285" y="2099"/>
                    <a:ext cx="2664" cy="975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SQL </a:t>
                    </a: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查询</a:t>
                    </a:r>
                    <a:endPara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" name="矩形: 圆角 14"/>
                  <p:cNvSpPr/>
                  <p:nvPr/>
                </p:nvSpPr>
                <p:spPr>
                  <a:xfrm>
                    <a:off x="285" y="-573"/>
                    <a:ext cx="2664" cy="975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问答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矩形: 圆角 55"/>
                  <p:cNvSpPr/>
                  <p:nvPr/>
                </p:nvSpPr>
                <p:spPr>
                  <a:xfrm>
                    <a:off x="285" y="3908"/>
                    <a:ext cx="2664" cy="975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可视化运维数据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6" name="矩形: 圆角 65"/>
                  <p:cNvSpPr/>
                  <p:nvPr/>
                </p:nvSpPr>
                <p:spPr>
                  <a:xfrm>
                    <a:off x="5417" y="-630"/>
                    <a:ext cx="5200" cy="975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RAG</a:t>
                    </a: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检索概念性知识库</a:t>
                    </a:r>
                    <a:r>
                      <a: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/</a:t>
                    </a: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直</a:t>
                    </a: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答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8" name="矩形: 圆角 77"/>
                  <p:cNvSpPr/>
                  <p:nvPr/>
                </p:nvSpPr>
                <p:spPr>
                  <a:xfrm>
                    <a:off x="5424" y="1613"/>
                    <a:ext cx="2299" cy="899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点表</a:t>
                    </a:r>
                    <a:r>
                      <a: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查询</a:t>
                    </a:r>
                    <a:endPara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106" name="直接连接符 105"/>
                  <p:cNvCxnSpPr/>
                  <p:nvPr/>
                </p:nvCxnSpPr>
                <p:spPr>
                  <a:xfrm>
                    <a:off x="3216" y="-86"/>
                    <a:ext cx="1783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接连接符 109"/>
                  <p:cNvCxnSpPr/>
                  <p:nvPr/>
                </p:nvCxnSpPr>
                <p:spPr>
                  <a:xfrm>
                    <a:off x="3269" y="4276"/>
                    <a:ext cx="1783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接连接符 110"/>
                  <p:cNvCxnSpPr/>
                  <p:nvPr/>
                </p:nvCxnSpPr>
                <p:spPr>
                  <a:xfrm>
                    <a:off x="3269" y="2512"/>
                    <a:ext cx="1783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左大括号 7"/>
                <p:cNvSpPr/>
                <p:nvPr/>
              </p:nvSpPr>
              <p:spPr>
                <a:xfrm>
                  <a:off x="-476" y="-705"/>
                  <a:ext cx="682" cy="4787"/>
                </a:xfrm>
                <a:prstGeom prst="leftBrace">
                  <a:avLst>
                    <a:gd name="adj1" fmla="val 0"/>
                    <a:gd name="adj2" fmla="val 50000"/>
                  </a:avLst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2" name="矩形: 圆角 77"/>
              <p:cNvSpPr/>
              <p:nvPr/>
            </p:nvSpPr>
            <p:spPr>
              <a:xfrm>
                <a:off x="12128" y="440"/>
                <a:ext cx="2299" cy="89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故障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矩形: 圆角 77"/>
              <p:cNvSpPr/>
              <p:nvPr/>
            </p:nvSpPr>
            <p:spPr>
              <a:xfrm>
                <a:off x="12128" y="-1573"/>
                <a:ext cx="2299" cy="89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异常预警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左大括号 19"/>
              <p:cNvSpPr/>
              <p:nvPr/>
            </p:nvSpPr>
            <p:spPr>
              <a:xfrm>
                <a:off x="11131" y="-622"/>
                <a:ext cx="388" cy="1783"/>
              </a:xfrm>
              <a:prstGeom prst="leftBrace">
                <a:avLst>
                  <a:gd name="adj1" fmla="val 193223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矩形: 圆角 14"/>
            <p:cNvSpPr/>
            <p:nvPr/>
          </p:nvSpPr>
          <p:spPr>
            <a:xfrm>
              <a:off x="6372" y="-56"/>
              <a:ext cx="2664" cy="97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single agent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5486" y="431"/>
              <a:ext cx="8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9022" y="582"/>
              <a:ext cx="8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矩形: 圆角 112"/>
            <p:cNvSpPr/>
            <p:nvPr/>
          </p:nvSpPr>
          <p:spPr>
            <a:xfrm>
              <a:off x="28510" y="3445"/>
              <a:ext cx="2240" cy="835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对话框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4" name="直接箭头连接符 53"/>
            <p:cNvCxnSpPr>
              <a:stCxn id="53" idx="2"/>
              <a:endCxn id="113" idx="0"/>
            </p:cNvCxnSpPr>
            <p:nvPr/>
          </p:nvCxnSpPr>
          <p:spPr>
            <a:xfrm>
              <a:off x="29630" y="4280"/>
              <a:ext cx="0" cy="21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5264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64655" y="785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运维助手所需接口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0549" y="874263"/>
            <a:ext cx="107632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1.</a:t>
            </a:r>
            <a:r>
              <a:rPr lang="zh-CN" altLang="en-US" sz="1800" dirty="0"/>
              <a:t>需要一个在顺德能使用的数据查询接口，并明确数据查询的请求格式。</a:t>
            </a:r>
            <a:endParaRPr lang="en-US" altLang="zh-CN" sz="1800" dirty="0"/>
          </a:p>
          <a:p>
            <a:endParaRPr lang="en-US" altLang="zh-CN" dirty="0"/>
          </a:p>
          <a:p>
            <a:r>
              <a:rPr lang="en-US" altLang="zh-CN" sz="1800" dirty="0"/>
              <a:t>2.</a:t>
            </a:r>
            <a:r>
              <a:rPr lang="zh-CN" altLang="en-US" sz="1800" dirty="0"/>
              <a:t>需设备信息列表，主要包括设备号、地点等信息，便于将用户的自然语言对应上设备号</a:t>
            </a:r>
            <a:endParaRPr lang="en-US" altLang="zh-CN" dirty="0"/>
          </a:p>
          <a:p>
            <a:endParaRPr lang="en-US" altLang="zh-CN" sz="1800" dirty="0"/>
          </a:p>
          <a:p>
            <a:r>
              <a:rPr lang="en-US" altLang="zh-CN" dirty="0"/>
              <a:t>3.</a:t>
            </a:r>
            <a:r>
              <a:rPr lang="zh-CN" altLang="en-US" dirty="0"/>
              <a:t>需明确查询返回数据格式，便于通过</a:t>
            </a:r>
            <a:r>
              <a:rPr lang="en-US" altLang="zh-CN" dirty="0" err="1"/>
              <a:t>llm</a:t>
            </a:r>
            <a:r>
              <a:rPr lang="zh-CN" altLang="en-US" dirty="0"/>
              <a:t>转为适配作图所需的请求格式。</a:t>
            </a:r>
            <a:endParaRPr lang="en-US" altLang="zh-CN" dirty="0"/>
          </a:p>
          <a:p>
            <a:endParaRPr lang="en-US" altLang="zh-CN" sz="1800" dirty="0"/>
          </a:p>
        </p:txBody>
      </p:sp>
      <p:sp>
        <p:nvSpPr>
          <p:cNvPr id="7" name="矩形: 圆角 6"/>
          <p:cNvSpPr/>
          <p:nvPr/>
        </p:nvSpPr>
        <p:spPr>
          <a:xfrm>
            <a:off x="1806369" y="4463042"/>
            <a:ext cx="1335148" cy="618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根据用户意图生成数据查询</a:t>
            </a:r>
            <a:endParaRPr lang="en-US" altLang="zh-CN" sz="1200" dirty="0"/>
          </a:p>
          <a:p>
            <a:pPr algn="ctr"/>
            <a:r>
              <a:rPr lang="zh-CN" altLang="en-US" sz="1200" dirty="0"/>
              <a:t>请求</a:t>
            </a:r>
            <a:r>
              <a:rPr lang="en-US" altLang="zh-CN" sz="1200" dirty="0"/>
              <a:t>/</a:t>
            </a:r>
            <a:r>
              <a:rPr lang="zh-CN" altLang="en-US" sz="1200" dirty="0"/>
              <a:t>语句</a:t>
            </a:r>
            <a:endParaRPr lang="zh-CN" altLang="en-US" sz="1200" dirty="0"/>
          </a:p>
        </p:txBody>
      </p:sp>
      <p:sp>
        <p:nvSpPr>
          <p:cNvPr id="8" name="文本框 7"/>
          <p:cNvSpPr txBox="1"/>
          <p:nvPr/>
        </p:nvSpPr>
        <p:spPr>
          <a:xfrm>
            <a:off x="3328309" y="4310856"/>
            <a:ext cx="5848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这一步目的是将用户的</a:t>
            </a:r>
            <a:r>
              <a:rPr lang="zh-CN" altLang="en-US" dirty="0"/>
              <a:t>自然语言转为数据查询语言，如“请帮我分析今天顺德地区所有电站的运行情况”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抓取“今天” ∩“顺德地区所有设备号”电站的数据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</Words>
  <Application>WPS 演示</Application>
  <PresentationFormat>宽屏</PresentationFormat>
  <Paragraphs>172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MIDEA</dc:creator>
  <cp:lastModifiedBy>rujd</cp:lastModifiedBy>
  <cp:revision>42</cp:revision>
  <dcterms:created xsi:type="dcterms:W3CDTF">2026-01-05T02:27:00Z</dcterms:created>
  <dcterms:modified xsi:type="dcterms:W3CDTF">2026-04-17T08:38:34Z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F0A591BA942343F88381177BD5E59878_12</vt:lpwstr>
  </property>
</Properties>
</file>